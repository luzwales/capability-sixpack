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精益六西格玛 (Lean Six Sigma) DMAIC 改善报告</a:t>
            </a:r>
          </a:p>
          <a:p>
            <a:pPr>
              <a:spcBef>
                <a:spcPts val="1600"/>
              </a:spcBef>
              <a:defRPr sz="1900">
                <a:solidFill>
                  <a:srgbClr val="B4CDED"/>
                </a:solidFill>
              </a:defRPr>
            </a:pPr>
            <a:r>
              <a:t>Python 数据驱动全流程替代 Minitab — 精密机械加工尺寸 CTQ 能力提升项目</a:t>
            </a:r>
          </a:p>
          <a:p>
            <a:pPr>
              <a:spcBef>
                <a:spcPts val="3000"/>
              </a:spcBef>
              <a:defRPr sz="1300">
                <a:solidFill>
                  <a:srgbClr val="8CA0B9"/>
                </a:solidFill>
              </a:defRPr>
            </a:pPr>
            <a:r>
              <a:t>项目周期: 2026 Q1 - Q2  |  带级: Six Sigma Black Belt  |  工具架构: SigmaFlow + Minitab-Style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项目核心成果与经济效益总结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基于 DMAIC 严谨方法论的量化前后对比与价值交付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制程能力指数 (Cpk)</a:t>
            </a:r>
          </a:p>
          <a:p>
            <a:pPr>
              <a:spcBef>
                <a:spcPts val="1000"/>
              </a:spcBef>
              <a:defRPr sz="1200">
                <a:solidFill>
                  <a:srgbClr val="6C757D"/>
                </a:solidFill>
              </a:defRPr>
            </a:pPr>
            <a:r>
              <a:t>改善前: 1.000 (警戒)  ➔  改善后: 1.632 (卓越)</a:t>
            </a:r>
          </a:p>
          <a:p>
            <a:pPr>
              <a:spcBef>
                <a:spcPts val="800"/>
              </a:spcBef>
              <a:defRPr sz="1400" b="1">
                <a:solidFill>
                  <a:srgbClr val="2CA02C"/>
                </a:solidFill>
              </a:defRPr>
            </a:pPr>
            <a:r>
              <a:t>Cpk 提升 +63.2% (跨入世界级制程)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预期缺陷率 (DPMO)</a:t>
            </a:r>
          </a:p>
          <a:p>
            <a:pPr>
              <a:spcBef>
                <a:spcPts val="1000"/>
              </a:spcBef>
              <a:defRPr sz="1200">
                <a:solidFill>
                  <a:srgbClr val="6C757D"/>
                </a:solidFill>
              </a:defRPr>
            </a:pPr>
            <a:r>
              <a:t>改善前: 2,700 PPM  ➔  改善后: &lt; 1 PPM</a:t>
            </a:r>
          </a:p>
          <a:p>
            <a:pPr>
              <a:spcBef>
                <a:spcPts val="800"/>
              </a:spcBef>
              <a:defRPr sz="1400" b="1">
                <a:solidFill>
                  <a:srgbClr val="2CA02C"/>
                </a:solidFill>
              </a:defRPr>
            </a:pPr>
            <a:r>
              <a:t>不良率下降 99.9% (消除超差隐患)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制程标准差 (Sigma Level)</a:t>
            </a:r>
          </a:p>
          <a:p>
            <a:pPr>
              <a:spcBef>
                <a:spcPts val="1000"/>
              </a:spcBef>
              <a:defRPr sz="1200">
                <a:solidFill>
                  <a:srgbClr val="6C757D"/>
                </a:solidFill>
              </a:defRPr>
            </a:pPr>
            <a:r>
              <a:t>改善前: 0.4087 mm (3.0σ)  ➔  改善后: 0.2450 mm (4.9σ)</a:t>
            </a:r>
          </a:p>
          <a:p>
            <a:pPr>
              <a:spcBef>
                <a:spcPts val="800"/>
              </a:spcBef>
              <a:defRPr sz="1400" b="1">
                <a:solidFill>
                  <a:srgbClr val="2CA02C"/>
                </a:solidFill>
              </a:defRPr>
            </a:pPr>
            <a:r>
              <a:t>波动方差收窄 40.1% (稳定性倍增)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工具架构迁移</a:t>
            </a:r>
          </a:p>
          <a:p>
            <a:pPr>
              <a:spcBef>
                <a:spcPts val="1000"/>
              </a:spcBef>
              <a:defRPr sz="1200">
                <a:solidFill>
                  <a:srgbClr val="6C757D"/>
                </a:solidFill>
              </a:defRPr>
            </a:pPr>
            <a:r>
              <a:t>改善前: Minitab 单机许可依赖  ➔  改善后: Python SigmaFlow 自动化</a:t>
            </a:r>
          </a:p>
          <a:p>
            <a:pPr>
              <a:spcBef>
                <a:spcPts val="800"/>
              </a:spcBef>
              <a:defRPr sz="1400" b="1">
                <a:solidFill>
                  <a:srgbClr val="2CA02C"/>
                </a:solidFill>
              </a:defRPr>
            </a:pPr>
            <a:r>
              <a:t>代码化、可复现、企业级开源部署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1 : DEFINE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项目界定、SIPOC 流程图与缺陷帕累托分析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识别关键顾客需求 (CTQ)，依据 80/20 法则聚焦首要尺寸缺陷</a:t>
            </a:r>
          </a:p>
        </p:txBody>
      </p:sp>
      <p:pic>
        <p:nvPicPr>
          <p:cNvPr id="5" name="Picture 4" descr="phase1_define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371600"/>
            <a:ext cx="4389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Define 阶段关键发现与交付物:</a:t>
            </a:r>
          </a:p>
          <a:p>
            <a:pPr>
              <a:spcBef>
                <a:spcPts val="1400"/>
              </a:spcBef>
              <a:defRPr sz="1100">
                <a:solidFill>
                  <a:srgbClr val="212529"/>
                </a:solidFill>
              </a:defRPr>
            </a:pPr>
            <a:r>
              <a:t>【CTQ 明确】: 客户终检尺寸需求锁定于 50.00 ± 1.20 mm，公差要求高精密配合。</a:t>
            </a:r>
          </a:p>
          <a:p>
            <a:pPr>
              <a:spcBef>
                <a:spcPts val="1400"/>
              </a:spcBef>
              <a:defRPr sz="1100">
                <a:solidFill>
                  <a:srgbClr val="212529"/>
                </a:solidFill>
              </a:defRPr>
            </a:pPr>
            <a:r>
              <a:t>【帕累托关键少数】: 外径超差占质量投诉的 54%，连同粗糙度合计贡献 80% 以上不良，确定首要攻关方向。</a:t>
            </a:r>
          </a:p>
          <a:p>
            <a:pPr>
              <a:spcBef>
                <a:spcPts val="1400"/>
              </a:spcBef>
              <a:defRPr sz="1100">
                <a:solidFill>
                  <a:srgbClr val="212529"/>
                </a:solidFill>
              </a:defRPr>
            </a:pPr>
            <a:r>
              <a:t>【SIPOC 范围】: 边界涵盖毛坯定位装夹至在线测量终检全链路 5 道核心工序。</a:t>
            </a:r>
          </a:p>
          <a:p>
            <a:pPr>
              <a:spcBef>
                <a:spcPts val="1400"/>
              </a:spcBef>
              <a:defRPr sz="1100">
                <a:solidFill>
                  <a:srgbClr val="212529"/>
                </a:solidFill>
              </a:defRPr>
            </a:pPr>
            <a:r>
              <a:t>【立项收益】: 消除批次返工，年预计节约质量报废成本超 35 万元。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 : MEASURE (MSA)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测量系统分析 (Gage R&amp;R 图表、ANOVA 数据表与计数型研究)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计量型 ANOVA Gage R&amp;R 验证测量精度，配合 Minitab 风格数据表卡片与计数型 Kappa</a:t>
            </a:r>
          </a:p>
        </p:txBody>
      </p:sp>
      <p:pic>
        <p:nvPicPr>
          <p:cNvPr id="5" name="Picture 4" descr="phase2_gage_rr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931920" cy="4663440"/>
          </a:xfrm>
          <a:prstGeom prst="rect">
            <a:avLst/>
          </a:prstGeom>
        </p:spPr>
      </p:pic>
      <p:pic>
        <p:nvPicPr>
          <p:cNvPr id="6" name="Picture 5" descr="phase2_gage_rr_report_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474720" cy="4663440"/>
          </a:xfrm>
          <a:prstGeom prst="rect">
            <a:avLst/>
          </a:prstGeom>
        </p:spPr>
      </p:pic>
      <p:pic>
        <p:nvPicPr>
          <p:cNvPr id="7" name="Picture 6" descr="phase2_attribute_agreement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371600"/>
            <a:ext cx="34747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 : MEASURE (能力基准)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工序能力基准量化 (Cpk) 与正态分布检验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双正态分布曲线叠加验证: 组内短期变异 vs 整体长期变异</a:t>
            </a:r>
          </a:p>
        </p:txBody>
      </p:sp>
      <p:pic>
        <p:nvPicPr>
          <p:cNvPr id="5" name="Picture 4" descr="phase2_capability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371600"/>
            <a:ext cx="3840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Measure 阶段关键度量指标:</a:t>
            </a:r>
          </a:p>
          <a:p>
            <a:pPr>
              <a:spcBef>
                <a:spcPts val="1200"/>
              </a:spcBef>
              <a:defRPr sz="1100">
                <a:solidFill>
                  <a:srgbClr val="212529"/>
                </a:solidFill>
              </a:defRPr>
            </a:pPr>
            <a:r>
              <a:t>【正态性假定】: Shapiro-Wilk (p=0.610 &gt; 0.05) 与 Anderson-Darling 检验双重证实数据高度服从正态分布。</a:t>
            </a:r>
          </a:p>
          <a:p>
            <a:pPr>
              <a:spcBef>
                <a:spcPts val="1200"/>
              </a:spcBef>
              <a:defRPr sz="1100">
                <a:solidFill>
                  <a:srgbClr val="212529"/>
                </a:solidFill>
              </a:defRPr>
            </a:pPr>
            <a:r>
              <a:t>【能力不足】: 基线 Cpk = 1.000，Ppk = 0.970，低于行业及格线 1.33，制程处于濒临失控边缘。</a:t>
            </a:r>
          </a:p>
          <a:p>
            <a:pPr>
              <a:spcBef>
                <a:spcPts val="1200"/>
              </a:spcBef>
              <a:defRPr sz="1100">
                <a:solidFill>
                  <a:srgbClr val="212529"/>
                </a:solidFill>
              </a:defRPr>
            </a:pPr>
            <a:r>
              <a:t>【MSA 可信度】: 计量型 Gage R&amp;R %Study Var = 6.57% (&lt;10%)，ndc = 21 (&gt;=5)；计数型 Kappa 平均达 0.726，数据高度可信。</a:t>
            </a:r>
          </a:p>
          <a:p>
            <a:pPr>
              <a:spcBef>
                <a:spcPts val="1200"/>
              </a:spcBef>
              <a:defRPr sz="1100">
                <a:solidFill>
                  <a:srgbClr val="212529"/>
                </a:solidFill>
              </a:defRPr>
            </a:pPr>
            <a:r>
              <a:t>【缺陷预估】: 预计不合格品达 2,700 PPM，需要深入 Analyze 探查参数根因。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 : ANALYZE (分布对比)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图形化汇总报告 (Summary Report) 与多列数据对比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展示 Minitab 经典 Graphical Summary Report (含偏度、峰度与 95% CI)，以及多班次并排箱线图和分面直方图</a:t>
            </a:r>
          </a:p>
        </p:txBody>
      </p:sp>
      <p:pic>
        <p:nvPicPr>
          <p:cNvPr id="5" name="Picture 4" descr="phase3_graphical_summary_dim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114800" cy="4663440"/>
          </a:xfrm>
          <a:prstGeom prst="rect">
            <a:avLst/>
          </a:prstGeom>
        </p:spPr>
      </p:pic>
      <p:pic>
        <p:nvPicPr>
          <p:cNvPr id="6" name="Picture 5" descr="phase3_multi_column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840480" cy="4663440"/>
          </a:xfrm>
          <a:prstGeom prst="rect">
            <a:avLst/>
          </a:prstGeom>
        </p:spPr>
      </p:pic>
      <p:pic>
        <p:nvPicPr>
          <p:cNvPr id="7" name="Picture 6" descr="phase3_multi_column_histogram_pane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371600"/>
            <a:ext cx="30175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 : ANALYZE (鱼骨图因果分析)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特性要因图 (Cause-and-Effect / Fishbone Diagram)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系统化按制造 6M 维度梳理潜在因子，初步锁定重点检验排查的根因路径</a:t>
            </a:r>
          </a:p>
        </p:txBody>
      </p:sp>
      <p:pic>
        <p:nvPicPr>
          <p:cNvPr id="5" name="Picture 4" descr="phase3_fishbo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669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 : ANALYZE (统计检验)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假设检验体系、卡方独立性分析、水平区间图与 Means 表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全面覆盖 1-Sample/2-Sample t检验、配对检验、Minitab 水平区间估计与列联表卡方分析</a:t>
            </a:r>
          </a:p>
        </p:txBody>
      </p:sp>
      <p:pic>
        <p:nvPicPr>
          <p:cNvPr id="5" name="Picture 4" descr="phase3_chisquare_contingen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566160" cy="4663440"/>
          </a:xfrm>
          <a:prstGeom prst="rect">
            <a:avLst/>
          </a:prstGeom>
        </p:spPr>
      </p:pic>
      <p:pic>
        <p:nvPicPr>
          <p:cNvPr id="6" name="Picture 5" descr="phase3_interval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71600"/>
            <a:ext cx="3931920" cy="2377440"/>
          </a:xfrm>
          <a:prstGeom prst="rect">
            <a:avLst/>
          </a:prstGeom>
        </p:spPr>
      </p:pic>
      <p:pic>
        <p:nvPicPr>
          <p:cNvPr id="7" name="Picture 6" descr="phase3_interval_mean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840480"/>
            <a:ext cx="3931920" cy="2194560"/>
          </a:xfrm>
          <a:prstGeom prst="rect">
            <a:avLst/>
          </a:prstGeom>
        </p:spPr>
      </p:pic>
      <p:pic>
        <p:nvPicPr>
          <p:cNvPr id="8" name="Picture 7" descr="phase3_multi_vari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371600"/>
            <a:ext cx="35661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 : ANALYZE (归因锁定)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工艺自变量相关性、回归模型与 FMEA 风险排查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辨析关键输入变量 (X) 对关键输出尺寸 (Y) 的敏感度，结合 FMEA 锁定根因</a:t>
            </a:r>
          </a:p>
        </p:txBody>
      </p:sp>
      <p:pic>
        <p:nvPicPr>
          <p:cNvPr id="5" name="Picture 4" descr="phase3_factors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840480" cy="4663440"/>
          </a:xfrm>
          <a:prstGeom prst="rect">
            <a:avLst/>
          </a:prstGeom>
        </p:spPr>
      </p:pic>
      <p:pic>
        <p:nvPicPr>
          <p:cNvPr id="6" name="Picture 5" descr="phase3_regressi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371600"/>
            <a:ext cx="3291840" cy="4663440"/>
          </a:xfrm>
          <a:prstGeom prst="rect">
            <a:avLst/>
          </a:prstGeom>
        </p:spPr>
      </p:pic>
      <p:pic>
        <p:nvPicPr>
          <p:cNvPr id="7" name="Picture 6" descr="phase3_fmea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371600"/>
            <a:ext cx="39319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3 : ANALYZE (根因统计验证)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根本原因统计验证复合报告 (Root Cause Validation: Operator)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ANOVA 验证操作员显著性 (P=0.048 &lt; 0.05)，量化各工位均值散差与 95% 置信区间</a:t>
            </a:r>
          </a:p>
        </p:txBody>
      </p:sp>
      <p:pic>
        <p:nvPicPr>
          <p:cNvPr id="5" name="Picture 4" descr="phase3_root_cause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327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4 : IMPROVE (回归与诊断)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预测区间、残差诊断四合一图与二次非线性回归极值优化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移植 data-six-sigma 进阶分析：CI vs PI 预测带、残差 4-in-1 检验与抛物线驻点寻优</a:t>
            </a:r>
          </a:p>
        </p:txBody>
      </p:sp>
      <p:pic>
        <p:nvPicPr>
          <p:cNvPr id="5" name="Picture 4" descr="phase4_fitted_line_with_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840480" cy="4663440"/>
          </a:xfrm>
          <a:prstGeom prst="rect">
            <a:avLst/>
          </a:prstGeom>
        </p:spPr>
      </p:pic>
      <p:pic>
        <p:nvPicPr>
          <p:cNvPr id="6" name="Picture 5" descr="phase4_residuals_4i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371600"/>
            <a:ext cx="4023360" cy="4663440"/>
          </a:xfrm>
          <a:prstGeom prst="rect">
            <a:avLst/>
          </a:prstGeom>
        </p:spPr>
      </p:pic>
      <p:pic>
        <p:nvPicPr>
          <p:cNvPr id="7" name="Picture 6" descr="phase4_quadratic_regressi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371600"/>
            <a:ext cx="3200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4 : IMPROVE (DOE 试验)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全因子试验设计 (2³ DOE)、效应帕累托图与模型精简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采用全因子试验评估因子效应，输出 Minitab 效应帕累托图与 Flex 经典案例表</a:t>
            </a:r>
          </a:p>
        </p:txBody>
      </p:sp>
      <p:pic>
        <p:nvPicPr>
          <p:cNvPr id="5" name="Picture 4" descr="phase4_doe_main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3931920" cy="4663440"/>
          </a:xfrm>
          <a:prstGeom prst="rect">
            <a:avLst/>
          </a:prstGeom>
        </p:spPr>
      </p:pic>
      <p:pic>
        <p:nvPicPr>
          <p:cNvPr id="6" name="Picture 5" descr="phase4_pareto_standardized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3840480" cy="4663440"/>
          </a:xfrm>
          <a:prstGeom prst="rect">
            <a:avLst/>
          </a:prstGeom>
        </p:spPr>
      </p:pic>
      <p:pic>
        <p:nvPicPr>
          <p:cNvPr id="7" name="Picture 6" descr="phase4_flex_anova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371600"/>
            <a:ext cx="32004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4 : IMPROVE (优化验证)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最佳工艺窗口推荐与改善前后能力对比 (Before vs After)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基于 DOE 方差分析与响应优化拟合，验证变异收窄与 Cpk 大幅跃升</a:t>
            </a:r>
          </a:p>
        </p:txBody>
      </p:sp>
      <p:pic>
        <p:nvPicPr>
          <p:cNvPr id="5" name="Picture 4" descr="phase4_before_after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480560"/>
          </a:xfrm>
          <a:prstGeom prst="rect">
            <a:avLst/>
          </a:prstGeom>
        </p:spPr>
      </p:pic>
      <p:pic>
        <p:nvPicPr>
          <p:cNvPr id="6" name="Picture 5" descr="phase4_improved_cap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3035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5 :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统计过程控制 (I-MR)、失控反应计划 (OCAP) 与控制计划表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落实 Western Electric 准则在线预警，防范改进成果回潮，固化控制计划与防错</a:t>
            </a:r>
          </a:p>
        </p:txBody>
      </p:sp>
      <p:pic>
        <p:nvPicPr>
          <p:cNvPr id="5" name="Picture 4" descr="phase5_imr_contro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69280" cy="4572000"/>
          </a:xfrm>
          <a:prstGeom prst="rect">
            <a:avLst/>
          </a:prstGeom>
        </p:spPr>
      </p:pic>
      <p:pic>
        <p:nvPicPr>
          <p:cNvPr id="6" name="Picture 5" descr="phase5_control_pla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411480"/>
          </a:xfrm>
          <a:prstGeom prst="roundRect">
            <a:avLst/>
          </a:prstGeom>
          <a:solidFill>
            <a:srgbClr val="1B55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5 : CONTROL (控制图矩阵)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200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计量型子组 (Xbar-R) 与计数型 (P, NP, C, U) 控制图体系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覆盖连续批量子组抽样及不合格品率、缺陷数在线统计过程控制与 Test 1 失控报警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